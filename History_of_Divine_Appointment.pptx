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8288000" cy="5120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FF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44" d="100"/>
          <a:sy n="44" d="100"/>
        </p:scale>
        <p:origin x="28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8380311"/>
            <a:ext cx="15544800" cy="1782741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26895217"/>
            <a:ext cx="13716000" cy="12363023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C02D0-CC35-794B-908C-9354113DA74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211D-AFCE-914B-A1E8-0181F8A72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16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C02D0-CC35-794B-908C-9354113DA74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211D-AFCE-914B-A1E8-0181F8A72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50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12766055"/>
            <a:ext cx="15773400" cy="21300436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34268002"/>
            <a:ext cx="15773400" cy="11201396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C02D0-CC35-794B-908C-9354113DA74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211D-AFCE-914B-A1E8-0181F8A72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7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3631334"/>
            <a:ext cx="7772400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3631334"/>
            <a:ext cx="7772400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C02D0-CC35-794B-908C-9354113DA74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211D-AFCE-914B-A1E8-0181F8A72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5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2726278"/>
            <a:ext cx="15773400" cy="98975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12552684"/>
            <a:ext cx="7736680" cy="6151876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18704560"/>
            <a:ext cx="7736680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12552684"/>
            <a:ext cx="7774782" cy="6151876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18704560"/>
            <a:ext cx="7774782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C02D0-CC35-794B-908C-9354113DA74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211D-AFCE-914B-A1E8-0181F8A72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2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C02D0-CC35-794B-908C-9354113DA74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211D-AFCE-914B-A1E8-0181F8A72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9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C02D0-CC35-794B-908C-9354113DA74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211D-AFCE-914B-A1E8-0181F8A72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28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3413760"/>
            <a:ext cx="5898356" cy="1194816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7372785"/>
            <a:ext cx="9258300" cy="363897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15361920"/>
            <a:ext cx="5898356" cy="28459857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C02D0-CC35-794B-908C-9354113DA74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211D-AFCE-914B-A1E8-0181F8A72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59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3413760"/>
            <a:ext cx="5898356" cy="1194816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7372785"/>
            <a:ext cx="9258300" cy="363897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15361920"/>
            <a:ext cx="5898356" cy="28459857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C02D0-CC35-794B-908C-9354113DA74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211D-AFCE-914B-A1E8-0181F8A72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70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C02D0-CC35-794B-908C-9354113DA74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211D-AFCE-914B-A1E8-0181F8A72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5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2726267"/>
            <a:ext cx="3943350" cy="433950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2726267"/>
            <a:ext cx="11601450" cy="433950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C02D0-CC35-794B-908C-9354113DA74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211D-AFCE-914B-A1E8-0181F8A72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14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2726278"/>
            <a:ext cx="15773400" cy="9897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3631334"/>
            <a:ext cx="15773400" cy="32489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47460758"/>
            <a:ext cx="411480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C02D0-CC35-794B-908C-9354113DA74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47460758"/>
            <a:ext cx="617220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47460758"/>
            <a:ext cx="411480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30211D-AFCE-914B-A1E8-0181F8A72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9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54919317-35E1-B58F-C1D1-AD1409D882B0}"/>
              </a:ext>
            </a:extLst>
          </p:cNvPr>
          <p:cNvSpPr txBox="1"/>
          <p:nvPr/>
        </p:nvSpPr>
        <p:spPr>
          <a:xfrm>
            <a:off x="10512332" y="49655326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a-IR" sz="40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آدم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F874A2-E082-A936-E080-10A58D8D1423}"/>
              </a:ext>
            </a:extLst>
          </p:cNvPr>
          <p:cNvSpPr txBox="1"/>
          <p:nvPr/>
        </p:nvSpPr>
        <p:spPr>
          <a:xfrm>
            <a:off x="10512332" y="45946059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000" dirty="0">
                <a:solidFill>
                  <a:srgbClr val="FFFF0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نوح</a:t>
            </a:r>
            <a:endParaRPr lang="en-US" sz="4000" dirty="0">
              <a:solidFill>
                <a:srgbClr val="FFFF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E774B4-7AF4-1847-42C2-FB3A77A3A8DA}"/>
              </a:ext>
            </a:extLst>
          </p:cNvPr>
          <p:cNvSpPr txBox="1"/>
          <p:nvPr/>
        </p:nvSpPr>
        <p:spPr>
          <a:xfrm>
            <a:off x="9655542" y="44236130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000" dirty="0" err="1">
                <a:solidFill>
                  <a:srgbClr val="00B05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هود</a:t>
            </a:r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680FD9-DF24-A8EB-E9A6-9FD006A4EFF2}"/>
              </a:ext>
            </a:extLst>
          </p:cNvPr>
          <p:cNvSpPr txBox="1"/>
          <p:nvPr/>
        </p:nvSpPr>
        <p:spPr>
          <a:xfrm>
            <a:off x="9655542" y="41696270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000" dirty="0">
                <a:solidFill>
                  <a:srgbClr val="00B05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صالح</a:t>
            </a:r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FEF81B-3F84-78A8-E8B1-7B392A1F4475}"/>
              </a:ext>
            </a:extLst>
          </p:cNvPr>
          <p:cNvSpPr txBox="1"/>
          <p:nvPr/>
        </p:nvSpPr>
        <p:spPr>
          <a:xfrm>
            <a:off x="10512332" y="38849565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000" dirty="0">
                <a:solidFill>
                  <a:srgbClr val="FFFF0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ابراهیم</a:t>
            </a:r>
            <a:endParaRPr lang="en-US" sz="4000" dirty="0">
              <a:solidFill>
                <a:srgbClr val="FFFF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D200D6-EDA6-EE9B-665E-99080FFDBB4B}"/>
              </a:ext>
            </a:extLst>
          </p:cNvPr>
          <p:cNvSpPr txBox="1"/>
          <p:nvPr/>
        </p:nvSpPr>
        <p:spPr>
          <a:xfrm>
            <a:off x="9453446" y="36858956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000" dirty="0">
                <a:solidFill>
                  <a:srgbClr val="00B05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لوط</a:t>
            </a:r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6313C7-834A-5B88-E88C-46D6EDA7157C}"/>
              </a:ext>
            </a:extLst>
          </p:cNvPr>
          <p:cNvSpPr txBox="1"/>
          <p:nvPr/>
        </p:nvSpPr>
        <p:spPr>
          <a:xfrm>
            <a:off x="9441159" y="34618720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000" dirty="0">
                <a:solidFill>
                  <a:srgbClr val="00B05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شعیب</a:t>
            </a:r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FC8148-A131-BA5A-8621-B14677049165}"/>
              </a:ext>
            </a:extLst>
          </p:cNvPr>
          <p:cNvSpPr txBox="1"/>
          <p:nvPr/>
        </p:nvSpPr>
        <p:spPr>
          <a:xfrm>
            <a:off x="10520875" y="32511543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000" dirty="0">
                <a:solidFill>
                  <a:srgbClr val="00B05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یعقوب</a:t>
            </a:r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30DCD4-1FF2-2258-EFB4-1D493C523A33}"/>
              </a:ext>
            </a:extLst>
          </p:cNvPr>
          <p:cNvSpPr txBox="1"/>
          <p:nvPr/>
        </p:nvSpPr>
        <p:spPr>
          <a:xfrm>
            <a:off x="10520875" y="29766175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000" dirty="0">
                <a:solidFill>
                  <a:srgbClr val="00B05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یوسف</a:t>
            </a:r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D6A5DE-35D4-852C-1DF7-B7FF64335390}"/>
              </a:ext>
            </a:extLst>
          </p:cNvPr>
          <p:cNvSpPr txBox="1"/>
          <p:nvPr/>
        </p:nvSpPr>
        <p:spPr>
          <a:xfrm>
            <a:off x="10520875" y="25023828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000" dirty="0">
                <a:solidFill>
                  <a:srgbClr val="FFFF0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موسی</a:t>
            </a:r>
            <a:endParaRPr lang="en-US" sz="4000" dirty="0">
              <a:solidFill>
                <a:srgbClr val="FFFF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FF714C-1401-F96D-781E-1ED005D154F6}"/>
              </a:ext>
            </a:extLst>
          </p:cNvPr>
          <p:cNvSpPr txBox="1"/>
          <p:nvPr/>
        </p:nvSpPr>
        <p:spPr>
          <a:xfrm>
            <a:off x="10520875" y="23219521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000" dirty="0">
                <a:solidFill>
                  <a:srgbClr val="00B05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داود</a:t>
            </a:r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BC21EF-230F-0329-66E9-1E8929F41BA4}"/>
              </a:ext>
            </a:extLst>
          </p:cNvPr>
          <p:cNvSpPr txBox="1"/>
          <p:nvPr/>
        </p:nvSpPr>
        <p:spPr>
          <a:xfrm>
            <a:off x="10512332" y="21675443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000" dirty="0">
                <a:solidFill>
                  <a:srgbClr val="00B05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سلیمان</a:t>
            </a:r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96E3EA-3C11-AD03-40E6-38455FC436DC}"/>
              </a:ext>
            </a:extLst>
          </p:cNvPr>
          <p:cNvSpPr txBox="1"/>
          <p:nvPr/>
        </p:nvSpPr>
        <p:spPr>
          <a:xfrm>
            <a:off x="10512332" y="15948493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000" dirty="0">
                <a:solidFill>
                  <a:srgbClr val="FFFF0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عیسی</a:t>
            </a:r>
            <a:endParaRPr lang="en-US" sz="4000" dirty="0">
              <a:solidFill>
                <a:srgbClr val="FFFF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85701A-69AD-2799-41B0-462040F2F801}"/>
              </a:ext>
            </a:extLst>
          </p:cNvPr>
          <p:cNvSpPr txBox="1"/>
          <p:nvPr/>
        </p:nvSpPr>
        <p:spPr>
          <a:xfrm>
            <a:off x="10512332" y="8146596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4000" dirty="0">
                <a:solidFill>
                  <a:srgbClr val="FFFF0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محمد</a:t>
            </a:r>
            <a:endParaRPr lang="en-US" sz="4000" dirty="0">
              <a:solidFill>
                <a:srgbClr val="FFFF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259E6A-C40F-471A-688F-4E70A1AD78BB}"/>
              </a:ext>
            </a:extLst>
          </p:cNvPr>
          <p:cNvSpPr txBox="1"/>
          <p:nvPr/>
        </p:nvSpPr>
        <p:spPr>
          <a:xfrm>
            <a:off x="7089869" y="49603421"/>
            <a:ext cx="1760926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بسیط</a:t>
            </a:r>
            <a:endParaRPr lang="fr-CH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تاسیس بشر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AB48F7-315E-B0EE-14FE-2FD328A385B3}"/>
              </a:ext>
            </a:extLst>
          </p:cNvPr>
          <p:cNvSpPr txBox="1"/>
          <p:nvPr/>
        </p:nvSpPr>
        <p:spPr>
          <a:xfrm>
            <a:off x="4535786" y="45973050"/>
            <a:ext cx="4301299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توحید - نفی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بت‌پرست</a:t>
            </a:r>
            <a:endParaRPr lang="fa-IR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marL="342900" indent="-342900" algn="just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صرفا اشاره به خروج پس از مرگ 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هیچ توصیه عملی نداریم</a:t>
            </a:r>
          </a:p>
          <a:p>
            <a:pPr marL="342900" indent="-342900" algn="just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از بین رفتن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کافرین</a:t>
            </a:r>
            <a:endParaRPr lang="fa-IR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marL="342900" indent="-342900" algn="just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نبی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85D39C5-439D-B162-82D5-D6C20425E87A}"/>
              </a:ext>
            </a:extLst>
          </p:cNvPr>
          <p:cNvSpPr txBox="1"/>
          <p:nvPr/>
        </p:nvSpPr>
        <p:spPr>
          <a:xfrm>
            <a:off x="8483376" y="48601874"/>
            <a:ext cx="2263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a-IR" sz="2800" dirty="0">
                <a:solidFill>
                  <a:srgbClr val="969696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پسران آدم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AE70C8-9EC9-C5F1-12E6-2BA310B2D3A7}"/>
              </a:ext>
            </a:extLst>
          </p:cNvPr>
          <p:cNvSpPr txBox="1"/>
          <p:nvPr/>
        </p:nvSpPr>
        <p:spPr>
          <a:xfrm>
            <a:off x="5984495" y="48601875"/>
            <a:ext cx="2449666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آغاز اختلاف</a:t>
            </a:r>
          </a:p>
          <a:p>
            <a:pPr marL="342900" indent="-342900" algn="justLow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خلاف عملی</a:t>
            </a:r>
            <a:r>
              <a:rPr lang="fr-CH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(قتل)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BC49DE8-FDA9-6811-9C0E-DDD2629C6E08}"/>
              </a:ext>
            </a:extLst>
          </p:cNvPr>
          <p:cNvCxnSpPr>
            <a:cxnSpLocks/>
            <a:stCxn id="34" idx="0"/>
            <a:endCxn id="35" idx="2"/>
          </p:cNvCxnSpPr>
          <p:nvPr/>
        </p:nvCxnSpPr>
        <p:spPr>
          <a:xfrm flipV="1">
            <a:off x="11198132" y="46653945"/>
            <a:ext cx="0" cy="30013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BF3215EE-E896-9DCD-E461-D03E7AE18657}"/>
              </a:ext>
            </a:extLst>
          </p:cNvPr>
          <p:cNvSpPr txBox="1"/>
          <p:nvPr/>
        </p:nvSpPr>
        <p:spPr>
          <a:xfrm>
            <a:off x="5029961" y="44236131"/>
            <a:ext cx="2982007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توحید - نفی شرک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اشاره به اعمال (نفی) (کلی)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7419C88-53FC-9257-101E-CC7CB8881B5F}"/>
              </a:ext>
            </a:extLst>
          </p:cNvPr>
          <p:cNvCxnSpPr>
            <a:cxnSpLocks/>
            <a:stCxn id="48" idx="0"/>
            <a:endCxn id="34" idx="0"/>
          </p:cNvCxnSpPr>
          <p:nvPr/>
        </p:nvCxnSpPr>
        <p:spPr>
          <a:xfrm>
            <a:off x="7970332" y="49603421"/>
            <a:ext cx="3227800" cy="5190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A267A03-A0D4-97AD-77C4-A72EF1CB6DF1}"/>
              </a:ext>
            </a:extLst>
          </p:cNvPr>
          <p:cNvCxnSpPr>
            <a:cxnSpLocks/>
            <a:stCxn id="63" idx="0"/>
            <a:endCxn id="62" idx="0"/>
          </p:cNvCxnSpPr>
          <p:nvPr/>
        </p:nvCxnSpPr>
        <p:spPr>
          <a:xfrm flipV="1">
            <a:off x="7209328" y="48601874"/>
            <a:ext cx="2405927" cy="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B184DDC-6B5C-966B-1A4F-7D258DDFAA0C}"/>
              </a:ext>
            </a:extLst>
          </p:cNvPr>
          <p:cNvCxnSpPr>
            <a:cxnSpLocks/>
            <a:stCxn id="49" idx="0"/>
            <a:endCxn id="35" idx="0"/>
          </p:cNvCxnSpPr>
          <p:nvPr/>
        </p:nvCxnSpPr>
        <p:spPr>
          <a:xfrm flipV="1">
            <a:off x="6686436" y="45946059"/>
            <a:ext cx="4511696" cy="2699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533FF3B-18C1-67C8-6AEF-D228DA0058CC}"/>
              </a:ext>
            </a:extLst>
          </p:cNvPr>
          <p:cNvCxnSpPr>
            <a:cxnSpLocks/>
            <a:stCxn id="71" idx="0"/>
            <a:endCxn id="36" idx="0"/>
          </p:cNvCxnSpPr>
          <p:nvPr/>
        </p:nvCxnSpPr>
        <p:spPr>
          <a:xfrm flipV="1">
            <a:off x="6520965" y="44236130"/>
            <a:ext cx="3820377" cy="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4025B80-5B0C-3901-EC81-DC2A081D590C}"/>
              </a:ext>
            </a:extLst>
          </p:cNvPr>
          <p:cNvCxnSpPr>
            <a:cxnSpLocks/>
            <a:stCxn id="35" idx="0"/>
            <a:endCxn id="36" idx="2"/>
          </p:cNvCxnSpPr>
          <p:nvPr/>
        </p:nvCxnSpPr>
        <p:spPr>
          <a:xfrm flipH="1" flipV="1">
            <a:off x="10341342" y="44944016"/>
            <a:ext cx="856790" cy="10020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2695F31-C603-BC19-13C7-2DBA6DBFCC99}"/>
              </a:ext>
            </a:extLst>
          </p:cNvPr>
          <p:cNvCxnSpPr>
            <a:cxnSpLocks/>
            <a:stCxn id="36" idx="0"/>
            <a:endCxn id="37" idx="2"/>
          </p:cNvCxnSpPr>
          <p:nvPr/>
        </p:nvCxnSpPr>
        <p:spPr>
          <a:xfrm flipV="1">
            <a:off x="10341342" y="42404156"/>
            <a:ext cx="0" cy="1831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C209E87C-A162-3F26-EDAA-E82229039651}"/>
              </a:ext>
            </a:extLst>
          </p:cNvPr>
          <p:cNvSpPr txBox="1"/>
          <p:nvPr/>
        </p:nvSpPr>
        <p:spPr>
          <a:xfrm>
            <a:off x="1400187" y="41696270"/>
            <a:ext cx="6611782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توحید - نفی شرک</a:t>
            </a:r>
          </a:p>
          <a:p>
            <a:pPr marL="342900" indent="-342900" algn="just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صرفا اشاره به مبعوث شدن بعد از مرگ (احتمالا-سوره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مومنون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)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اشاره به اعمال (نفی) (کلی)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(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بینه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ظاهری کمک خاصی به انحراف نظری نمیکند)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کشتن ناقه، یک عمل خلاف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0EB73A34-6582-EFF3-6D94-12ACBA00B262}"/>
              </a:ext>
            </a:extLst>
          </p:cNvPr>
          <p:cNvCxnSpPr>
            <a:cxnSpLocks/>
            <a:stCxn id="109" idx="0"/>
            <a:endCxn id="37" idx="0"/>
          </p:cNvCxnSpPr>
          <p:nvPr/>
        </p:nvCxnSpPr>
        <p:spPr>
          <a:xfrm>
            <a:off x="4706078" y="41696270"/>
            <a:ext cx="5635264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E04A55C-1CF6-5419-928B-7444056D5BD9}"/>
              </a:ext>
            </a:extLst>
          </p:cNvPr>
          <p:cNvCxnSpPr>
            <a:cxnSpLocks/>
            <a:stCxn id="37" idx="0"/>
            <a:endCxn id="38" idx="2"/>
          </p:cNvCxnSpPr>
          <p:nvPr/>
        </p:nvCxnSpPr>
        <p:spPr>
          <a:xfrm flipV="1">
            <a:off x="10341342" y="39557451"/>
            <a:ext cx="856790" cy="21388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2A010219-F8B6-9869-4376-053CD05BA6FA}"/>
              </a:ext>
            </a:extLst>
          </p:cNvPr>
          <p:cNvSpPr txBox="1"/>
          <p:nvPr/>
        </p:nvSpPr>
        <p:spPr>
          <a:xfrm>
            <a:off x="3370290" y="38827886"/>
            <a:ext cx="5471962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توحید و نفی شرک (بت ها و ستاره و ماه و خورشید)</a:t>
            </a:r>
          </a:p>
          <a:p>
            <a:pPr marL="342900" indent="-342900" algn="just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شکستن بتها</a:t>
            </a:r>
          </a:p>
          <a:p>
            <a:pPr marL="342900" indent="-342900" algn="just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توصیف با جزئیات بهشت و جهنم (معاد)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اشاره به صلات و معرفی حج (اعمال عبادی)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آغاز حرکت و امت و خط کشیدن بین مومن و کافر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مقدمه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بنی‌اسرائیل</a:t>
            </a:r>
            <a:endParaRPr lang="fa-IR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B1C859D-7E38-4F2B-4BAA-6943996C9B33}"/>
              </a:ext>
            </a:extLst>
          </p:cNvPr>
          <p:cNvCxnSpPr>
            <a:cxnSpLocks/>
            <a:stCxn id="122" idx="0"/>
            <a:endCxn id="38" idx="0"/>
          </p:cNvCxnSpPr>
          <p:nvPr/>
        </p:nvCxnSpPr>
        <p:spPr>
          <a:xfrm>
            <a:off x="6106271" y="38827886"/>
            <a:ext cx="5091861" cy="2167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E51355C-32C5-1611-DD80-C7511837E6B3}"/>
              </a:ext>
            </a:extLst>
          </p:cNvPr>
          <p:cNvCxnSpPr>
            <a:cxnSpLocks/>
            <a:stCxn id="38" idx="0"/>
            <a:endCxn id="39" idx="2"/>
          </p:cNvCxnSpPr>
          <p:nvPr/>
        </p:nvCxnSpPr>
        <p:spPr>
          <a:xfrm flipH="1" flipV="1">
            <a:off x="10139246" y="37566842"/>
            <a:ext cx="1058886" cy="1282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DE136759-01D7-5B61-7B9E-7881294494F3}"/>
              </a:ext>
            </a:extLst>
          </p:cNvPr>
          <p:cNvSpPr txBox="1"/>
          <p:nvPr/>
        </p:nvSpPr>
        <p:spPr>
          <a:xfrm>
            <a:off x="2762643" y="36858957"/>
            <a:ext cx="5020723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هدایت اعمال (نفی انحراف عملی مشخص)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انحراف در اعمال تکوینی (جنسی)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DCE153E-5F1B-056F-E42F-2C22725320B3}"/>
              </a:ext>
            </a:extLst>
          </p:cNvPr>
          <p:cNvCxnSpPr>
            <a:cxnSpLocks/>
            <a:stCxn id="131" idx="0"/>
            <a:endCxn id="39" idx="0"/>
          </p:cNvCxnSpPr>
          <p:nvPr/>
        </p:nvCxnSpPr>
        <p:spPr>
          <a:xfrm flipV="1">
            <a:off x="5273005" y="36858956"/>
            <a:ext cx="4866241" cy="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6B261B63-6C4B-843F-7AA3-08332F1C8715}"/>
              </a:ext>
            </a:extLst>
          </p:cNvPr>
          <p:cNvCxnSpPr>
            <a:cxnSpLocks/>
            <a:stCxn id="39" idx="0"/>
            <a:endCxn id="40" idx="2"/>
          </p:cNvCxnSpPr>
          <p:nvPr/>
        </p:nvCxnSpPr>
        <p:spPr>
          <a:xfrm flipH="1" flipV="1">
            <a:off x="10126959" y="35326606"/>
            <a:ext cx="12287" cy="1532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6E5EEF8A-0653-9871-1E18-37C1DFAAC6F3}"/>
              </a:ext>
            </a:extLst>
          </p:cNvPr>
          <p:cNvSpPr txBox="1"/>
          <p:nvPr/>
        </p:nvSpPr>
        <p:spPr>
          <a:xfrm>
            <a:off x="1945627" y="34618721"/>
            <a:ext cx="583774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هدایت نظری</a:t>
            </a:r>
          </a:p>
          <a:p>
            <a:pPr marL="342900" indent="-342900" algn="just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هدایت اعمال بسیار پررنگ (نفی انحراف عملی مشخص)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انحراف در اعمال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تشریعی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(مالی)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A13AC7BC-72A7-D94F-25C9-A2C41A23F36C}"/>
              </a:ext>
            </a:extLst>
          </p:cNvPr>
          <p:cNvCxnSpPr>
            <a:cxnSpLocks/>
            <a:stCxn id="139" idx="0"/>
            <a:endCxn id="40" idx="0"/>
          </p:cNvCxnSpPr>
          <p:nvPr/>
        </p:nvCxnSpPr>
        <p:spPr>
          <a:xfrm flipV="1">
            <a:off x="4864497" y="34618720"/>
            <a:ext cx="5262462" cy="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F9A2B26-3994-FDCC-4698-97E33B34DCC6}"/>
              </a:ext>
            </a:extLst>
          </p:cNvPr>
          <p:cNvCxnSpPr>
            <a:cxnSpLocks/>
            <a:stCxn id="40" idx="0"/>
            <a:endCxn id="43" idx="2"/>
          </p:cNvCxnSpPr>
          <p:nvPr/>
        </p:nvCxnSpPr>
        <p:spPr>
          <a:xfrm flipV="1">
            <a:off x="10126959" y="25731714"/>
            <a:ext cx="1079716" cy="888700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1E248D6-3F19-9E07-81FE-68836331B53D}"/>
              </a:ext>
            </a:extLst>
          </p:cNvPr>
          <p:cNvCxnSpPr>
            <a:cxnSpLocks/>
            <a:stCxn id="152" idx="0"/>
            <a:endCxn id="41" idx="0"/>
          </p:cNvCxnSpPr>
          <p:nvPr/>
        </p:nvCxnSpPr>
        <p:spPr>
          <a:xfrm>
            <a:off x="7558618" y="32480218"/>
            <a:ext cx="3648057" cy="3132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EBE3E859-F9BF-7BAB-236D-EC2353BAC15F}"/>
              </a:ext>
            </a:extLst>
          </p:cNvPr>
          <p:cNvSpPr txBox="1"/>
          <p:nvPr/>
        </p:nvSpPr>
        <p:spPr>
          <a:xfrm>
            <a:off x="6266440" y="32480218"/>
            <a:ext cx="2584355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تاسیس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بنی‌اسرائیل</a:t>
            </a:r>
            <a:endParaRPr lang="fa-IR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قواعد خوراک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اشاره به مرگش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1F346311-DBC8-0C97-373C-335723B0CA74}"/>
              </a:ext>
            </a:extLst>
          </p:cNvPr>
          <p:cNvCxnSpPr>
            <a:cxnSpLocks/>
            <a:stCxn id="41" idx="0"/>
            <a:endCxn id="42" idx="2"/>
          </p:cNvCxnSpPr>
          <p:nvPr/>
        </p:nvCxnSpPr>
        <p:spPr>
          <a:xfrm flipV="1">
            <a:off x="11206675" y="30474061"/>
            <a:ext cx="0" cy="2037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73D7D351-5389-6B1C-8146-95647257E555}"/>
              </a:ext>
            </a:extLst>
          </p:cNvPr>
          <p:cNvCxnSpPr>
            <a:cxnSpLocks/>
            <a:stCxn id="160" idx="0"/>
            <a:endCxn id="42" idx="0"/>
          </p:cNvCxnSpPr>
          <p:nvPr/>
        </p:nvCxnSpPr>
        <p:spPr>
          <a:xfrm>
            <a:off x="7127565" y="29714610"/>
            <a:ext cx="4079110" cy="5156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D5371532-47BB-FAD4-C77E-538D1AF45A0B}"/>
              </a:ext>
            </a:extLst>
          </p:cNvPr>
          <p:cNvSpPr txBox="1"/>
          <p:nvPr/>
        </p:nvSpPr>
        <p:spPr>
          <a:xfrm>
            <a:off x="5492494" y="29714610"/>
            <a:ext cx="327014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ورود به حکومت (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غیردینی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)</a:t>
            </a:r>
            <a:endParaRPr lang="fr-CH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FD2E5B33-C024-1995-3117-3D11EC53B079}"/>
              </a:ext>
            </a:extLst>
          </p:cNvPr>
          <p:cNvCxnSpPr>
            <a:cxnSpLocks/>
            <a:stCxn id="42" idx="0"/>
            <a:endCxn id="43" idx="2"/>
          </p:cNvCxnSpPr>
          <p:nvPr/>
        </p:nvCxnSpPr>
        <p:spPr>
          <a:xfrm flipV="1">
            <a:off x="11206675" y="25731714"/>
            <a:ext cx="0" cy="40344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47ED97AF-857A-D4E5-FEA1-393BC7119287}"/>
              </a:ext>
            </a:extLst>
          </p:cNvPr>
          <p:cNvCxnSpPr>
            <a:cxnSpLocks/>
            <a:stCxn id="171" idx="0"/>
            <a:endCxn id="43" idx="0"/>
          </p:cNvCxnSpPr>
          <p:nvPr/>
        </p:nvCxnSpPr>
        <p:spPr>
          <a:xfrm>
            <a:off x="4785814" y="25005095"/>
            <a:ext cx="6420861" cy="18733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59EEA1A4-A9D4-9A75-BCF9-6BFA0E6C4561}"/>
              </a:ext>
            </a:extLst>
          </p:cNvPr>
          <p:cNvSpPr txBox="1"/>
          <p:nvPr/>
        </p:nvSpPr>
        <p:spPr>
          <a:xfrm>
            <a:off x="787403" y="25005095"/>
            <a:ext cx="7996821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نزول مستقیم کتاب</a:t>
            </a:r>
            <a:endParaRPr lang="fr-CH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تشکیل جامعه دینی از مردم آبدیده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بنی‌اسرائیل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(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امتحان‌پس‌داده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و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مقاومت‌کرده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در مقابل فشارهای فرعون)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تلاش برای اتصال مستقیم جامعه به آسمان (موفق نشد-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قالوا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سمعنا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و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عصینا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)</a:t>
            </a:r>
          </a:p>
          <a:p>
            <a:pPr marL="342900" indent="-342900" algn="just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احکام خوراک  (تنبیهی)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هدایت اعمال (قصاص) – داخل جامعه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دعوت به جهاد (ورود به ارض مقدس را انجام ندادند) – خارج جامعه</a:t>
            </a: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BF8CFE97-8774-2E5D-D3AF-F8026C012FC2}"/>
              </a:ext>
            </a:extLst>
          </p:cNvPr>
          <p:cNvCxnSpPr>
            <a:cxnSpLocks/>
            <a:stCxn id="43" idx="0"/>
            <a:endCxn id="44" idx="2"/>
          </p:cNvCxnSpPr>
          <p:nvPr/>
        </p:nvCxnSpPr>
        <p:spPr>
          <a:xfrm flipV="1">
            <a:off x="11206675" y="23927407"/>
            <a:ext cx="0" cy="10964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C491CE4A-3496-A352-F33C-A3315CCBC2CB}"/>
              </a:ext>
            </a:extLst>
          </p:cNvPr>
          <p:cNvCxnSpPr>
            <a:cxnSpLocks/>
            <a:stCxn id="181" idx="0"/>
            <a:endCxn id="44" idx="0"/>
          </p:cNvCxnSpPr>
          <p:nvPr/>
        </p:nvCxnSpPr>
        <p:spPr>
          <a:xfrm>
            <a:off x="7317378" y="23205825"/>
            <a:ext cx="3889297" cy="136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DB59BB6F-6AFD-235C-7666-07B566F5AF5B}"/>
              </a:ext>
            </a:extLst>
          </p:cNvPr>
          <p:cNvSpPr txBox="1"/>
          <p:nvPr/>
        </p:nvSpPr>
        <p:spPr>
          <a:xfrm>
            <a:off x="5850533" y="23205825"/>
            <a:ext cx="293369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جهاد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تشکیل حکومت دینی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6AB89957-D14D-C8B3-301F-853F47258027}"/>
              </a:ext>
            </a:extLst>
          </p:cNvPr>
          <p:cNvCxnSpPr>
            <a:cxnSpLocks/>
            <a:stCxn id="187" idx="0"/>
            <a:endCxn id="45" idx="0"/>
          </p:cNvCxnSpPr>
          <p:nvPr/>
        </p:nvCxnSpPr>
        <p:spPr>
          <a:xfrm flipV="1">
            <a:off x="6326783" y="21675443"/>
            <a:ext cx="4871349" cy="103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613A4D29-7805-4ADE-CA69-72D803386851}"/>
              </a:ext>
            </a:extLst>
          </p:cNvPr>
          <p:cNvSpPr txBox="1"/>
          <p:nvPr/>
        </p:nvSpPr>
        <p:spPr>
          <a:xfrm>
            <a:off x="3912280" y="21676481"/>
            <a:ext cx="4829005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اوج سلطه حکومت دینی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تنها پیامبری که مرگش در قرآن بیان میشود 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E7E28C1A-5589-5CE5-423C-E9FDB4D917A5}"/>
              </a:ext>
            </a:extLst>
          </p:cNvPr>
          <p:cNvCxnSpPr>
            <a:cxnSpLocks/>
            <a:stCxn id="44" idx="0"/>
            <a:endCxn id="45" idx="2"/>
          </p:cNvCxnSpPr>
          <p:nvPr/>
        </p:nvCxnSpPr>
        <p:spPr>
          <a:xfrm flipH="1" flipV="1">
            <a:off x="11198132" y="22383329"/>
            <a:ext cx="8543" cy="8361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3DB5DB0E-563C-1E48-69D6-09D75F841B34}"/>
              </a:ext>
            </a:extLst>
          </p:cNvPr>
          <p:cNvCxnSpPr>
            <a:cxnSpLocks/>
            <a:stCxn id="45" idx="0"/>
            <a:endCxn id="46" idx="2"/>
          </p:cNvCxnSpPr>
          <p:nvPr/>
        </p:nvCxnSpPr>
        <p:spPr>
          <a:xfrm flipV="1">
            <a:off x="11198132" y="16656379"/>
            <a:ext cx="0" cy="50190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A074054-EAC4-5FE7-C243-03230613358C}"/>
              </a:ext>
            </a:extLst>
          </p:cNvPr>
          <p:cNvCxnSpPr>
            <a:cxnSpLocks/>
            <a:stCxn id="203" idx="0"/>
            <a:endCxn id="46" idx="0"/>
          </p:cNvCxnSpPr>
          <p:nvPr/>
        </p:nvCxnSpPr>
        <p:spPr>
          <a:xfrm>
            <a:off x="5525095" y="15925295"/>
            <a:ext cx="5673037" cy="2319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2001970B-6009-4DCF-BD61-A3F23B7550EC}"/>
              </a:ext>
            </a:extLst>
          </p:cNvPr>
          <p:cNvSpPr txBox="1"/>
          <p:nvPr/>
        </p:nvSpPr>
        <p:spPr>
          <a:xfrm>
            <a:off x="2174226" y="15925295"/>
            <a:ext cx="6701737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اتصال خود جامعه به آسمان (باطنی کردن حکومت)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کاهش اختلافات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حذ‌ف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قوانین موقت (به دست دادن نسخه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نهایی‌تر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از قوانین)</a:t>
            </a:r>
          </a:p>
          <a:p>
            <a:pPr marL="342900" indent="-342900" algn="just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تصریح بر فوت نشدن! (ناتمام)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4032C1B-DAA9-E01C-3EDC-26BC3AFFC2F1}"/>
              </a:ext>
            </a:extLst>
          </p:cNvPr>
          <p:cNvSpPr txBox="1"/>
          <p:nvPr/>
        </p:nvSpPr>
        <p:spPr>
          <a:xfrm>
            <a:off x="1184917" y="13018282"/>
            <a:ext cx="6701737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به نصرت خداوند میشتابند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وحی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مائده برایشان میاید</a:t>
            </a:r>
          </a:p>
          <a:p>
            <a:pPr marL="342900" indent="-342900" algn="justLow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اسم دین از اینها میاد (قطعی نیست)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اناجیل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نوشته اینهاست گویا کتاب به اینها نازل شده (قرآنی نیست)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72A11B6-C9DD-B75A-8ED5-45E477553444}"/>
              </a:ext>
            </a:extLst>
          </p:cNvPr>
          <p:cNvCxnSpPr>
            <a:cxnSpLocks/>
            <a:stCxn id="217" idx="0"/>
            <a:endCxn id="219" idx="0"/>
          </p:cNvCxnSpPr>
          <p:nvPr/>
        </p:nvCxnSpPr>
        <p:spPr>
          <a:xfrm>
            <a:off x="4535786" y="13018282"/>
            <a:ext cx="4802982" cy="139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F026FEFC-1B95-4956-15F7-36569D873982}"/>
              </a:ext>
            </a:extLst>
          </p:cNvPr>
          <p:cNvSpPr txBox="1"/>
          <p:nvPr/>
        </p:nvSpPr>
        <p:spPr>
          <a:xfrm>
            <a:off x="8599920" y="13019674"/>
            <a:ext cx="1477696" cy="531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a-IR" sz="2800" dirty="0">
                <a:solidFill>
                  <a:srgbClr val="92D05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حواریون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837CC962-A617-7F07-C530-F3814680C746}"/>
              </a:ext>
            </a:extLst>
          </p:cNvPr>
          <p:cNvCxnSpPr>
            <a:cxnSpLocks/>
            <a:stCxn id="46" idx="0"/>
            <a:endCxn id="47" idx="2"/>
          </p:cNvCxnSpPr>
          <p:nvPr/>
        </p:nvCxnSpPr>
        <p:spPr>
          <a:xfrm flipV="1">
            <a:off x="11198132" y="8854482"/>
            <a:ext cx="0" cy="70940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F01863C9-AC4D-0556-6710-8E685F59ADF3}"/>
              </a:ext>
            </a:extLst>
          </p:cNvPr>
          <p:cNvCxnSpPr>
            <a:cxnSpLocks/>
            <a:stCxn id="35" idx="0"/>
            <a:endCxn id="38" idx="2"/>
          </p:cNvCxnSpPr>
          <p:nvPr/>
        </p:nvCxnSpPr>
        <p:spPr>
          <a:xfrm flipV="1">
            <a:off x="11198132" y="39557451"/>
            <a:ext cx="0" cy="63886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1BF2873-E98B-0273-4F20-AACC828AB36C}"/>
              </a:ext>
            </a:extLst>
          </p:cNvPr>
          <p:cNvCxnSpPr>
            <a:cxnSpLocks/>
            <a:stCxn id="38" idx="0"/>
            <a:endCxn id="41" idx="2"/>
          </p:cNvCxnSpPr>
          <p:nvPr/>
        </p:nvCxnSpPr>
        <p:spPr>
          <a:xfrm flipV="1">
            <a:off x="11198132" y="33219429"/>
            <a:ext cx="8543" cy="56301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TextBox 307">
            <a:extLst>
              <a:ext uri="{FF2B5EF4-FFF2-40B4-BE49-F238E27FC236}">
                <a16:creationId xmlns:a16="http://schemas.microsoft.com/office/drawing/2014/main" id="{86076AA4-DEAF-9A14-342F-4F575988A457}"/>
              </a:ext>
            </a:extLst>
          </p:cNvPr>
          <p:cNvSpPr txBox="1"/>
          <p:nvPr/>
        </p:nvSpPr>
        <p:spPr>
          <a:xfrm>
            <a:off x="4740733" y="31438674"/>
            <a:ext cx="364805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اختلاف (ولی منجر به قتل نشد)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84705963-734D-F4DC-DFC4-5540707FBCC7}"/>
              </a:ext>
            </a:extLst>
          </p:cNvPr>
          <p:cNvSpPr txBox="1"/>
          <p:nvPr/>
        </p:nvSpPr>
        <p:spPr>
          <a:xfrm>
            <a:off x="8137559" y="31443139"/>
            <a:ext cx="2263758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a-IR" sz="2800" dirty="0">
                <a:solidFill>
                  <a:srgbClr val="969696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پسران یعقوب</a:t>
            </a:r>
          </a:p>
        </p:txBody>
      </p: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27B11FB4-C592-5EBD-76FA-8D355F7DCAD5}"/>
              </a:ext>
            </a:extLst>
          </p:cNvPr>
          <p:cNvCxnSpPr>
            <a:cxnSpLocks/>
            <a:stCxn id="308" idx="0"/>
            <a:endCxn id="309" idx="0"/>
          </p:cNvCxnSpPr>
          <p:nvPr/>
        </p:nvCxnSpPr>
        <p:spPr>
          <a:xfrm>
            <a:off x="6564762" y="31438674"/>
            <a:ext cx="2704676" cy="446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53C81D04-7DC4-03F4-1247-1E2BAC5CD68D}"/>
              </a:ext>
            </a:extLst>
          </p:cNvPr>
          <p:cNvSpPr txBox="1"/>
          <p:nvPr/>
        </p:nvSpPr>
        <p:spPr>
          <a:xfrm>
            <a:off x="11830884" y="16122931"/>
            <a:ext cx="14776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a-IR" sz="4000" dirty="0">
                <a:solidFill>
                  <a:srgbClr val="D7FF90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مریم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391D179A-949A-6B0D-40AD-50A6AF64093B}"/>
              </a:ext>
            </a:extLst>
          </p:cNvPr>
          <p:cNvSpPr txBox="1"/>
          <p:nvPr/>
        </p:nvSpPr>
        <p:spPr>
          <a:xfrm>
            <a:off x="11866427" y="46069171"/>
            <a:ext cx="6116747" cy="46166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مخالف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E630250D-7294-0CC6-C8D1-753DB0D32575}"/>
              </a:ext>
            </a:extLst>
          </p:cNvPr>
          <p:cNvSpPr txBox="1"/>
          <p:nvPr/>
        </p:nvSpPr>
        <p:spPr>
          <a:xfrm>
            <a:off x="11883932" y="37526951"/>
            <a:ext cx="6099251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همراه (زن ابراهیم) و مخالف (زن لوط)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«دختران لوط» تسلیم شبیه کنیز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7CEA0909-8DFE-F2A2-C240-8AB3AA6E6B38}"/>
              </a:ext>
            </a:extLst>
          </p:cNvPr>
          <p:cNvSpPr txBox="1"/>
          <p:nvPr/>
        </p:nvSpPr>
        <p:spPr>
          <a:xfrm>
            <a:off x="11870027" y="29889286"/>
            <a:ext cx="6113165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مجذوب اما از طریق بد و </a:t>
            </a:r>
            <a:r>
              <a:rPr lang="fa-IR" sz="2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دردسرساز</a:t>
            </a: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(زن عزیز و زنان مصر)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ورود به قصر ولی </a:t>
            </a:r>
            <a:r>
              <a:rPr lang="fa-IR" sz="2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غیرمومن</a:t>
            </a: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6F7787B9-B381-768C-141A-6AD65B61E900}"/>
              </a:ext>
            </a:extLst>
          </p:cNvPr>
          <p:cNvSpPr txBox="1"/>
          <p:nvPr/>
        </p:nvSpPr>
        <p:spPr>
          <a:xfrm>
            <a:off x="11892475" y="25143561"/>
            <a:ext cx="6090716" cy="120032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حامی (مادر و خواهر و </a:t>
            </a:r>
            <a:r>
              <a:rPr lang="fa-IR" sz="2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مادرخوانده</a:t>
            </a: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) و مجذوب (همسر)</a:t>
            </a:r>
            <a:endParaRPr lang="fr-CH" sz="2400" dirty="0">
              <a:solidFill>
                <a:schemeClr val="accent5">
                  <a:lumMod val="60000"/>
                  <a:lumOff val="40000"/>
                </a:schemeClr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وحی مختصر (مادر موسی)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ورود و حضور زنان مومن به قصر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3AEFA5F5-A552-2EC4-A4D7-B01332CDF990}"/>
              </a:ext>
            </a:extLst>
          </p:cNvPr>
          <p:cNvSpPr txBox="1"/>
          <p:nvPr/>
        </p:nvSpPr>
        <p:spPr>
          <a:xfrm>
            <a:off x="11870028" y="16950820"/>
            <a:ext cx="6113156" cy="230832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وحی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نزول روح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دریافت رزق آسمانی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موعظه</a:t>
            </a: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پیامبر </a:t>
            </a:r>
            <a:r>
              <a:rPr lang="fa-IR" sz="2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زکریا</a:t>
            </a:r>
            <a:endParaRPr lang="fa-IR" sz="2400" dirty="0">
              <a:solidFill>
                <a:schemeClr val="accent5">
                  <a:lumMod val="60000"/>
                  <a:lumOff val="40000"/>
                </a:schemeClr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marL="342900" indent="-342900" algn="justLow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مادر پیامبر عیسی</a:t>
            </a:r>
          </a:p>
          <a:p>
            <a:pPr marL="342900" indent="-342900" algn="justLow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معرفی </a:t>
            </a:r>
            <a:r>
              <a:rPr lang="fa-IR" sz="2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صیام</a:t>
            </a:r>
            <a:endParaRPr lang="fa-IR" sz="2400" dirty="0">
              <a:solidFill>
                <a:schemeClr val="accent5">
                  <a:lumMod val="60000"/>
                  <a:lumOff val="40000"/>
                </a:schemeClr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27643E3D-A507-B023-4961-5766CED1843A}"/>
              </a:ext>
            </a:extLst>
          </p:cNvPr>
          <p:cNvSpPr txBox="1"/>
          <p:nvPr/>
        </p:nvSpPr>
        <p:spPr>
          <a:xfrm>
            <a:off x="1184917" y="8150336"/>
            <a:ext cx="7690088" cy="41549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نفی شرک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نزول کتاب</a:t>
            </a:r>
          </a:p>
          <a:p>
            <a:pPr marL="342900" indent="-342900" algn="justLow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قسمت بزرگی از کتاب در مورد توصیف با جزئیات بهشت و جهنم </a:t>
            </a:r>
            <a:r>
              <a:rPr lang="fa-IR" sz="240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(معاد)</a:t>
            </a:r>
            <a:endParaRPr lang="fa-IR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تشکیل جامعه دینی</a:t>
            </a:r>
            <a:endParaRPr lang="fr-CH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تشکیل حکومت دینی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اعمال عبادی: صلات (جزئیات بیشتر)،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صیام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(چگونگی) و حج  (چگونگی)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احکام خوراک</a:t>
            </a:r>
          </a:p>
          <a:p>
            <a:pPr marL="342900" indent="-342900" algn="justLow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احکام اجتماعی (داخل جامعه) : حکم قصاص (از قبل)، معرفی حکم قطع دست دزد و تازیانه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زانی</a:t>
            </a:r>
            <a:endParaRPr lang="fa-IR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جهاد  (خارج جامعه) (عذاب برای پاکسازی زمین از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متجاوزین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)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ختم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نبوت</a:t>
            </a:r>
            <a:endParaRPr lang="fa-IR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</p:txBody>
      </p: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314012D0-05B3-CAA3-6042-5FE7D33545EE}"/>
              </a:ext>
            </a:extLst>
          </p:cNvPr>
          <p:cNvCxnSpPr>
            <a:cxnSpLocks/>
            <a:stCxn id="338" idx="0"/>
            <a:endCxn id="47" idx="0"/>
          </p:cNvCxnSpPr>
          <p:nvPr/>
        </p:nvCxnSpPr>
        <p:spPr>
          <a:xfrm flipV="1">
            <a:off x="5029961" y="8146596"/>
            <a:ext cx="6168171" cy="374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9A500AFB-F080-E33F-3C4A-C0CC7913EE40}"/>
              </a:ext>
            </a:extLst>
          </p:cNvPr>
          <p:cNvSpPr txBox="1"/>
          <p:nvPr/>
        </p:nvSpPr>
        <p:spPr>
          <a:xfrm>
            <a:off x="10494827" y="3480162"/>
            <a:ext cx="137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rtl="1"/>
            <a:r>
              <a:rPr lang="fa-IR" sz="40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قائم</a:t>
            </a:r>
            <a:endParaRPr lang="en-US" sz="4000" dirty="0">
              <a:solidFill>
                <a:schemeClr val="bg1"/>
              </a:solidFill>
            </a:endParaRPr>
          </a:p>
        </p:txBody>
      </p: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272032AA-F137-2852-E280-EA897F753262}"/>
              </a:ext>
            </a:extLst>
          </p:cNvPr>
          <p:cNvCxnSpPr>
            <a:cxnSpLocks/>
            <a:stCxn id="47" idx="0"/>
            <a:endCxn id="343" idx="2"/>
          </p:cNvCxnSpPr>
          <p:nvPr/>
        </p:nvCxnSpPr>
        <p:spPr>
          <a:xfrm flipH="1" flipV="1">
            <a:off x="11180627" y="4188048"/>
            <a:ext cx="17505" cy="39585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TextBox 348">
            <a:extLst>
              <a:ext uri="{FF2B5EF4-FFF2-40B4-BE49-F238E27FC236}">
                <a16:creationId xmlns:a16="http://schemas.microsoft.com/office/drawing/2014/main" id="{CED5CCAA-1888-E5CB-1107-63F475124851}"/>
              </a:ext>
            </a:extLst>
          </p:cNvPr>
          <p:cNvSpPr txBox="1"/>
          <p:nvPr/>
        </p:nvSpPr>
        <p:spPr>
          <a:xfrm>
            <a:off x="2903317" y="5417803"/>
            <a:ext cx="8150330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Low" rtl="1"/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إِنَّمَا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أَعِظُكُم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بِوَاحِدَةٍ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 </a:t>
            </a:r>
            <a:r>
              <a:rPr lang="fa-IR" sz="2400" u="sng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أ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َن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u="sng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تَقُومُوا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لِلَّهِ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مَثْنَىٰ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وَفُرَادَىٰ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...</a:t>
            </a:r>
          </a:p>
          <a:p>
            <a:pPr algn="justLow" rtl="1"/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لَقَدْ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أَرْسَلْنَا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رُسُلَنَا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بِالْبَيِّنَاتِ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وَأَنزَلْنَا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مَعَهُمُ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الْكِتَابَ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وَالْمِيزَانَ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u="sng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لِيَقُومَ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النَّاسُ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بِالْقِسْطِ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...</a:t>
            </a:r>
            <a:endParaRPr lang="fr-CH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algn="justLow" rtl="1"/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... </a:t>
            </a:r>
            <a:r>
              <a:rPr lang="fa-IR" sz="2400" u="sng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قُمِ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اللَّيْلَ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... (فردی)</a:t>
            </a:r>
          </a:p>
          <a:p>
            <a:pPr algn="justLow" rtl="1"/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... </a:t>
            </a:r>
            <a:r>
              <a:rPr lang="fa-IR" sz="2400" u="sng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قُمْ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فَأَنذِرْ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... (اجتماعی)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C8590713-1961-91A1-DB02-F36A41C1169F}"/>
              </a:ext>
            </a:extLst>
          </p:cNvPr>
          <p:cNvSpPr txBox="1"/>
          <p:nvPr/>
        </p:nvSpPr>
        <p:spPr>
          <a:xfrm>
            <a:off x="2039811" y="348612"/>
            <a:ext cx="15714559" cy="267765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marL="342900" indent="-342900" algn="r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هدایت از تئوری/اعتقادی/</a:t>
            </a:r>
            <a:r>
              <a:rPr lang="fr-CH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abstract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به عملی/</a:t>
            </a:r>
            <a:r>
              <a:rPr lang="fr-CH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concrete</a:t>
            </a:r>
            <a:endParaRPr lang="fa-IR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حرکت از فردی به اجتماعی و بعد حاکمیتی (جمع مومنان- قیام و حرکت - تشکیل جامعه دینی - تشکیل حکومت دینی – تسلیم شدن همه – اتصال همه به آسمان)</a:t>
            </a:r>
          </a:p>
          <a:p>
            <a:pPr marL="800100" lvl="1" indent="-342900" algn="r" rtl="1">
              <a:buFont typeface="Wingdings" pitchFamily="2" charset="2"/>
              <a:buChar char="§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توسعه احکام فردی-عبادی به مرور</a:t>
            </a:r>
            <a:endParaRPr lang="fr-CH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marL="800100" lvl="1" indent="-342900" algn="r" rtl="1">
              <a:buFont typeface="Wingdings" pitchFamily="2" charset="2"/>
              <a:buChar char="§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توسعه احکام اجتماعی (داخلی و خارجی) به مرور</a:t>
            </a:r>
            <a:endParaRPr lang="fr-CH" sz="2400" dirty="0">
              <a:solidFill>
                <a:schemeClr val="bg1"/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  <a:p>
            <a:pPr marL="800100" lvl="1" indent="-342900" algn="r" rtl="1">
              <a:buFont typeface="Wingdings" pitchFamily="2" charset="2"/>
              <a:buChar char="§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کاهش مداخله مستقیم آسمانی و انتقال بیشتر و بیشتر اختیارات به بشر (از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عذابهای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مستقیم آسمانی تا جهاد و قتال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مومنین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) (مثل کودکی که بزرگ میشود)</a:t>
            </a:r>
          </a:p>
          <a:p>
            <a:pPr marL="342900" indent="-342900" algn="r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تصویر حرکت زنان از کفر به سمت ایمان و رسیدن به درجه بسیار متعالی مریم</a:t>
            </a:r>
          </a:p>
          <a:p>
            <a:pPr algn="r" defTabSz="457200" rtl="1"/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(تصویر حرکت زنان (همه بالاخص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مومنین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) در اجتماع از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کنیزگونه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تا ملکه)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82969A0E-3AA5-B0F5-9C2B-1003CD3565B7}"/>
              </a:ext>
            </a:extLst>
          </p:cNvPr>
          <p:cNvSpPr txBox="1"/>
          <p:nvPr/>
        </p:nvSpPr>
        <p:spPr>
          <a:xfrm>
            <a:off x="13523725" y="3599089"/>
            <a:ext cx="4230645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r" defTabSz="457200" rtl="1"/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خلافت الهی: مقام (اختیارات) و مسئولیت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A32999FB-0F6F-39F0-39D7-60EC4E4557D9}"/>
              </a:ext>
            </a:extLst>
          </p:cNvPr>
          <p:cNvSpPr txBox="1"/>
          <p:nvPr/>
        </p:nvSpPr>
        <p:spPr>
          <a:xfrm>
            <a:off x="11892476" y="21754244"/>
            <a:ext cx="6090716" cy="46166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کاملا تسلیم در قالب ملکه (ملکه سبا)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B4EAF688-9B4B-78CD-D190-7ADD66E23D0C}"/>
              </a:ext>
            </a:extLst>
          </p:cNvPr>
          <p:cNvSpPr txBox="1"/>
          <p:nvPr/>
        </p:nvSpPr>
        <p:spPr>
          <a:xfrm>
            <a:off x="11892467" y="20201736"/>
            <a:ext cx="6090715" cy="46166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ازخودگذشته</a:t>
            </a: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برای خدا (زن عمران)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4B550-92B2-90EC-310F-EBF17FA48A7E}"/>
              </a:ext>
            </a:extLst>
          </p:cNvPr>
          <p:cNvSpPr txBox="1"/>
          <p:nvPr/>
        </p:nvSpPr>
        <p:spPr>
          <a:xfrm>
            <a:off x="11830884" y="49655326"/>
            <a:ext cx="6116747" cy="46166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بسیط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CBDE68-68FB-D980-6EDA-1368DCBB0E44}"/>
              </a:ext>
            </a:extLst>
          </p:cNvPr>
          <p:cNvSpPr txBox="1"/>
          <p:nvPr/>
        </p:nvSpPr>
        <p:spPr>
          <a:xfrm>
            <a:off x="9453446" y="8946815"/>
            <a:ext cx="15978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fa-IR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از نوح (بلکه آدم) تا لبه عیسی به صورت فشرده تکرار میشود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D7150F-480C-E59E-D9DD-77D24DAACC9B}"/>
              </a:ext>
            </a:extLst>
          </p:cNvPr>
          <p:cNvSpPr txBox="1"/>
          <p:nvPr/>
        </p:nvSpPr>
        <p:spPr>
          <a:xfrm>
            <a:off x="11866427" y="8569315"/>
            <a:ext cx="6113156" cy="156966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زن بد (زن </a:t>
            </a:r>
            <a:r>
              <a:rPr lang="fa-IR" sz="2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ابولهب</a:t>
            </a: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)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همسران بد (زنان سوره تحریم)</a:t>
            </a:r>
          </a:p>
          <a:p>
            <a:pPr marL="342900" indent="-342900" algn="justLow" defTabSz="457200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accent6">
                    <a:lumMod val="75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زنان مجذوب و تسلیم و متعالی؟؟؟ </a:t>
            </a:r>
            <a:r>
              <a:rPr lang="fa-IR" sz="2400" dirty="0" err="1">
                <a:solidFill>
                  <a:schemeClr val="accent6">
                    <a:lumMod val="75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خدیجه</a:t>
            </a:r>
            <a:r>
              <a:rPr lang="fa-IR" sz="2400" dirty="0">
                <a:solidFill>
                  <a:schemeClr val="accent6">
                    <a:lumMod val="75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، </a:t>
            </a:r>
            <a:r>
              <a:rPr lang="fa-IR" sz="2400" dirty="0" err="1">
                <a:solidFill>
                  <a:schemeClr val="accent6">
                    <a:lumMod val="75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ام‌سلمه</a:t>
            </a:r>
            <a:r>
              <a:rPr lang="fa-IR" sz="2400" dirty="0">
                <a:solidFill>
                  <a:schemeClr val="accent6">
                    <a:lumMod val="75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، فاطمه (ام </a:t>
            </a:r>
            <a:r>
              <a:rPr lang="fa-IR" sz="2400" dirty="0" err="1">
                <a:solidFill>
                  <a:schemeClr val="accent6">
                    <a:lumMod val="75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ابیها</a:t>
            </a:r>
            <a:r>
              <a:rPr lang="fa-IR" sz="2400" dirty="0">
                <a:solidFill>
                  <a:schemeClr val="accent6">
                    <a:lumMod val="75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، مادر پیامبر مانند مریم، کوثر (مایه حیات))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5A43C8-6663-8F6C-B8C5-A1F6629EF7B6}"/>
              </a:ext>
            </a:extLst>
          </p:cNvPr>
          <p:cNvSpPr txBox="1"/>
          <p:nvPr/>
        </p:nvSpPr>
        <p:spPr>
          <a:xfrm>
            <a:off x="7258671" y="7282865"/>
            <a:ext cx="28682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a-IR" sz="2800" dirty="0">
                <a:solidFill>
                  <a:schemeClr val="accent6">
                    <a:lumMod val="75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حواریون؟ علی و اصحاب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57359D-3B31-2C7D-F478-F478F78F3772}"/>
              </a:ext>
            </a:extLst>
          </p:cNvPr>
          <p:cNvSpPr txBox="1"/>
          <p:nvPr/>
        </p:nvSpPr>
        <p:spPr>
          <a:xfrm>
            <a:off x="6652287" y="4314714"/>
            <a:ext cx="6703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 rtl="1"/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تکمیل قسمت عیسوی تاریخ – باید همه مثل حواریون باشیم/بشویم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BCE3A20-5B93-FC64-028E-9F497C10FB61}"/>
              </a:ext>
            </a:extLst>
          </p:cNvPr>
          <p:cNvSpPr txBox="1"/>
          <p:nvPr/>
        </p:nvSpPr>
        <p:spPr>
          <a:xfrm>
            <a:off x="7089869" y="17434762"/>
            <a:ext cx="396145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fa-IR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زنده کردن درخت توسط مریم</a:t>
            </a:r>
          </a:p>
          <a:p>
            <a:pPr marL="0" algn="r" defTabSz="457200" rtl="1" eaLnBrk="1" latinLnBrk="0" hangingPunct="1"/>
            <a:r>
              <a:rPr lang="fa-IR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جاری کردن آب (مایه حیات) توسط مریم </a:t>
            </a:r>
          </a:p>
          <a:p>
            <a:pPr marL="0" algn="r" defTabSz="457200" rtl="1" eaLnBrk="1" latinLnBrk="0" hangingPunct="1"/>
            <a:r>
              <a:rPr lang="fa-IR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زنده کردن مرده و پرنده گلی توسط عیسی</a:t>
            </a:r>
          </a:p>
          <a:p>
            <a:pPr marL="0" algn="r" defTabSz="457200" rtl="1" eaLnBrk="1" latinLnBrk="0" hangingPunct="1"/>
            <a:r>
              <a:rPr lang="fa-IR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◀︎ گویا میخواهد روح الهی را در جامعه و حکومت دینی که به منزله بدنی درست شده بدمد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KFGQPC Uthman Taha Naskh" panose="02000000000000000000" pitchFamily="2" charset="-78"/>
              <a:cs typeface="KFGQPC Uthman Taha Naskh" panose="02000000000000000000" pitchFamily="2" charset="-78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4B6044C-7722-4534-254D-39947764F121}"/>
              </a:ext>
            </a:extLst>
          </p:cNvPr>
          <p:cNvSpPr txBox="1"/>
          <p:nvPr/>
        </p:nvSpPr>
        <p:spPr>
          <a:xfrm>
            <a:off x="4466374" y="28899158"/>
            <a:ext cx="364805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rtl="1"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جامعه کوچک </a:t>
            </a:r>
            <a:r>
              <a:rPr lang="fa-IR" sz="2400" dirty="0" err="1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غیرمتشکل</a:t>
            </a:r>
            <a:r>
              <a:rPr lang="fa-IR" sz="2400" dirty="0">
                <a:solidFill>
                  <a:schemeClr val="bg1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 دینی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A992C2D-5639-57E5-ECF2-D356B288D385}"/>
              </a:ext>
            </a:extLst>
          </p:cNvPr>
          <p:cNvSpPr txBox="1"/>
          <p:nvPr/>
        </p:nvSpPr>
        <p:spPr>
          <a:xfrm>
            <a:off x="7863200" y="28903623"/>
            <a:ext cx="2263758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a-IR" sz="2800" dirty="0">
                <a:solidFill>
                  <a:srgbClr val="969696"/>
                </a:solidFill>
                <a:latin typeface="KFGQPC Uthman Taha Naskh" panose="02000000000000000000" pitchFamily="2" charset="-78"/>
                <a:cs typeface="KFGQPC Uthman Taha Naskh" panose="02000000000000000000" pitchFamily="2" charset="-78"/>
              </a:rPr>
              <a:t>اسباط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3D9658F-A2C2-61E8-D98D-858670E3F628}"/>
              </a:ext>
            </a:extLst>
          </p:cNvPr>
          <p:cNvCxnSpPr>
            <a:cxnSpLocks/>
            <a:stCxn id="82" idx="0"/>
            <a:endCxn id="83" idx="0"/>
          </p:cNvCxnSpPr>
          <p:nvPr/>
        </p:nvCxnSpPr>
        <p:spPr>
          <a:xfrm>
            <a:off x="6290403" y="28899158"/>
            <a:ext cx="2704676" cy="446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326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933</TotalTime>
  <Words>800</Words>
  <Application>Microsoft Macintosh PowerPoint</Application>
  <PresentationFormat>Custom</PresentationFormat>
  <Paragraphs>121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KFGQPC Uthman Taha Naskh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 Pedram</dc:creator>
  <cp:lastModifiedBy>PAD Pedram</cp:lastModifiedBy>
  <cp:revision>56</cp:revision>
  <cp:lastPrinted>2025-11-13T10:48:00Z</cp:lastPrinted>
  <dcterms:created xsi:type="dcterms:W3CDTF">2025-11-13T07:13:27Z</dcterms:created>
  <dcterms:modified xsi:type="dcterms:W3CDTF">2026-05-27T15:38:09Z</dcterms:modified>
</cp:coreProperties>
</file>